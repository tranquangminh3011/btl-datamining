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2606040"/>
            <a:ext cx="11871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114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FFFFFF"/>
                </a:solidFill>
              </a:defRPr>
            </a:pPr>
            <a:r>
              <a:t>  BÀI TẬP LỚN — INT1422  KHO DỮ LIỆU &amp; KHAI PHÁ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3891FF"/>
                </a:solidFill>
              </a:defRPr>
            </a:pPr>
            <a:r>
              <a:t>XÂY DỰNG KHO DỮ LIỆU &amp; PHÂN TÍCH BUSINESS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5" y="26974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3400" b="1" i="0">
                <a:solidFill>
                  <a:srgbClr val="FFFFFF"/>
                </a:solidFill>
              </a:defRPr>
            </a:pPr>
            <a:r>
              <a:rPr dirty="0"/>
              <a:t>THƯƠNG MẠI ĐIỆN TỬ ĐA NGUỒN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33375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99592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defRPr sz="1100" b="1" i="0">
                <a:solidFill>
                  <a:srgbClr val="0D1B32"/>
                </a:solidFill>
              </a:defRPr>
            </a:pPr>
            <a:r>
              <a:t>Trần Quang Minh (Trưởng nhóm)</a:t>
            </a:r>
          </a:p>
          <a:p>
            <a:pPr algn="l">
              <a:spcBef>
                <a:spcPts val="200"/>
              </a:spcBef>
              <a:defRPr sz="950" b="0" i="1">
                <a:solidFill>
                  <a:srgbClr val="3891FF"/>
                </a:solidFill>
              </a:defRPr>
            </a:pPr>
            <a:r>
              <a:t>Data Engineer &amp; DWH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1772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Trích xuất đa nguồn ETL (Amazon, DummyJSON, OFF)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Thiết kế Star Schema Kimball (1 Fact + 4 Dim)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Hạ tầng PostgreSQL Docker &amp; Pipeline run_all.py</a:t>
            </a:r>
          </a:p>
          <a:p>
            <a:pPr algn="l">
              <a:spcBef>
                <a:spcPts val="500"/>
              </a:spcBef>
              <a:defRPr sz="900" b="1" i="0">
                <a:solidFill>
                  <a:srgbClr val="2563EB"/>
                </a:solidFill>
              </a:defRPr>
            </a:pPr>
            <a:r>
              <a:t>Đóng góp: 34%  ·  Thuyết trình: 5 phút đầu (Phần 1 &amp; 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86200"/>
            <a:ext cx="33375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99592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defRPr sz="1100" b="1" i="0">
                <a:solidFill>
                  <a:srgbClr val="0D1B32"/>
                </a:solidFill>
              </a:defRPr>
            </a:pPr>
            <a:r>
              <a:t>Thành viên 2</a:t>
            </a:r>
          </a:p>
          <a:p>
            <a:pPr algn="l">
              <a:spcBef>
                <a:spcPts val="200"/>
              </a:spcBef>
              <a:defRPr sz="950" b="0" i="1">
                <a:solidFill>
                  <a:srgbClr val="059669"/>
                </a:solidFill>
              </a:defRPr>
            </a:pPr>
            <a:r>
              <a:t>BI &amp; OLAP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1772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Khối đa chiều CUBE &amp; ROLLUP tăng tốc O(1)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Hiện thực 5 thao tác OLAP (Roll-up, Drill, Slice...)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Xây dựng Streamlit BI Dashboard (Tab 1 &amp; Tab 2)</a:t>
            </a:r>
          </a:p>
          <a:p>
            <a:pPr algn="l">
              <a:spcBef>
                <a:spcPts val="500"/>
              </a:spcBef>
              <a:defRPr sz="900" b="1" i="0">
                <a:solidFill>
                  <a:srgbClr val="059669"/>
                </a:solidFill>
              </a:defRPr>
            </a:pPr>
            <a:r>
              <a:t>Đóng góp: 33%  ·  Thuyết trình: 5 phút giữa (Phần 3 &amp;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886200"/>
            <a:ext cx="33375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399592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defRPr sz="1100" b="1" i="0">
                <a:solidFill>
                  <a:srgbClr val="0D1B32"/>
                </a:solidFill>
              </a:defRPr>
            </a:pPr>
            <a:r>
              <a:t>Thành viên 3</a:t>
            </a:r>
          </a:p>
          <a:p>
            <a:pPr algn="l">
              <a:spcBef>
                <a:spcPts val="200"/>
              </a:spcBef>
              <a:defRPr sz="950" b="0" i="1">
                <a:solidFill>
                  <a:srgbClr val="D97706"/>
                </a:solidFill>
              </a:defRPr>
            </a:pPr>
            <a:r>
              <a:t>Data Scientist &amp; ML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61772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Phân cụm RFM K-Means (Silhouette 0.6393, K=4)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FP-Growth Market Basket (7,674 luật, Lift 60.0x)</a:t>
            </a:r>
          </a:p>
          <a:p>
            <a:pPr algn="l">
              <a:spcBef>
                <a:spcPts val="200"/>
              </a:spcBef>
              <a:defRPr sz="900" b="0" i="0">
                <a:solidFill>
                  <a:srgbClr val="1E293B"/>
                </a:solidFill>
              </a:defRPr>
            </a:pPr>
            <a:r>
              <a:t>• Đánh giá Offline đa mô hình &amp; Combo Cross-sell</a:t>
            </a:r>
          </a:p>
          <a:p>
            <a:pPr algn="l">
              <a:spcBef>
                <a:spcPts val="500"/>
              </a:spcBef>
              <a:defRPr sz="900" b="1" i="0">
                <a:solidFill>
                  <a:srgbClr val="D97706"/>
                </a:solidFill>
              </a:defRPr>
            </a:pPr>
            <a:r>
              <a:t>Đóng góp: 33%  ·  Thuyết trình: 5 phút cuối (Phần 5 &amp; 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1: BỐI CẢNH &amp; MỤC TIÊU (2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Câu Hỏi Nghiệp Vụ &amp; Bối Cảnh Thực Tế Sàn TMĐT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2/15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2563EB"/>
                </a:solidFill>
              </a:defRPr>
            </a:pPr>
            <a:r>
              <a:t>Tại sao CSDL Giao dịch (OLTP) không đủ?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OLTP thiết kế chuẩn hóa 3NF tối ưu GHI dữ liệu giao dịch theo thời gian thực; không phù hợp với phân tích tổng hợp lớn vì phải scan toàn bảng (O(N)), gây nghẽn cổ chai hệ thống bán hàng.</a:t>
            </a:r>
          </a:p>
          <a:p>
            <a:pPr>
              <a:spcBef>
                <a:spcPts val="1000"/>
              </a:spcBef>
              <a:defRPr sz="1250" b="1">
                <a:solidFill>
                  <a:srgbClr val="059669"/>
                </a:solidFill>
              </a:defRPr>
            </a:pPr>
            <a:r>
              <a:t>Kho Dữ Liệu (Data Warehouse) giải quyết: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Mô hình Kimball Star Schema tách biệt phân tích khỏi vận hành.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Tổng hợp đa chiều (OLAP): Roll-up / Drill-down / Slice / Dice / Pivot.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Tăng tốc truy vấn báo cáo từ O(N) → O(1) nhờ Khối tính trước (CUBE &amp; ROLLUP).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08760"/>
            <a:ext cx="5897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0D1B32"/>
                </a:solidFill>
              </a:defRPr>
            </a:pPr>
            <a:r>
              <a:t>3 Câu hỏi nghiệp vụ cần giải quyết bằng DWH</a:t>
            </a:r>
          </a:p>
          <a:p>
            <a:pPr>
              <a:spcBef>
                <a:spcPts val="1000"/>
              </a:spcBef>
              <a:defRPr sz="1150" b="1">
                <a:solidFill>
                  <a:srgbClr val="2563EB"/>
                </a:solidFill>
              </a:defRPr>
            </a:pPr>
            <a:r>
              <a:t>📊 Q1 — Kinh doanh &amp; Ngành hàng: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Doanh thu biến động thế nào theo Năm/Quý/Tháng? Nhóm sản phẩm nào đóng góp chủ đạo?</a:t>
            </a:r>
          </a:p>
          <a:p>
            <a:pPr>
              <a:spcBef>
                <a:spcPts val="1000"/>
              </a:spcBef>
              <a:defRPr sz="1150" b="1">
                <a:solidFill>
                  <a:srgbClr val="059669"/>
                </a:solidFill>
              </a:defRPr>
            </a:pPr>
            <a:r>
              <a:t>👥 Q2 — Quản trị Khách hàng (CRM):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Nhóm VIP (Champions) nào đóng góp trên 50% doanh thu? Nhóm nào có nguy cơ rời bỏ cần tái kích hoạt?</a:t>
            </a:r>
          </a:p>
          <a:p>
            <a:pPr>
              <a:spcBef>
                <a:spcPts val="1000"/>
              </a:spcBef>
              <a:defRPr sz="1150" b="1">
                <a:solidFill>
                  <a:srgbClr val="D97706"/>
                </a:solidFill>
              </a:defRPr>
            </a:pPr>
            <a:r>
              <a:t>🛒 Q3 — Tối ưu Giá trị Đơn hàng (AOV):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Khi khách chọn SP A, họ thường mua kèm SP nào? Thiết kế Combo Bundle thế nào để tăng doanh số bán chéo?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2: DỮ LIỆU &amp; TIỀN XỬ LÝ (3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Kiến Trúc Thu Thập Dữ Liệu Đa Nguồn &amp; Luồng ETL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3/15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2563EB"/>
                </a:solidFill>
              </a:defRPr>
            </a:pPr>
            <a:r>
              <a:t>Nguồn 1 — Amazon Reviews 2023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Giao thức: HTTP Streaming JSONL từ HuggingFace McAuley-Lab.</a:t>
            </a:r>
            <a:br/>
            <a:r>
              <a:t>• Quy mô: 10,000 đánh giá &amp; 7,067 sản phẩm thực tế.</a:t>
            </a:r>
            <a:br/>
            <a:r>
              <a:t>• Cung cấp: user_id, rating, timestamp, review_text, helpful_vote.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Nguồn 2 — DummyJSON REST API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Giao thức: RESTful HTTP GET phân trang + Exponential Backoff.</a:t>
            </a:r>
            <a:br/>
            <a:r>
              <a:t>• Quy mô: 100 hồ sơ người dùng &amp; 50 giỏ hàng (194 mặt hàng).</a:t>
            </a:r>
            <a:br/>
            <a:r>
              <a:t>• Cung cấp: Tuổi, giới tính, thành phố, quốc gia, giao dịch.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Nguồn 3 — Open Food Facts REST API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Giao thức: REST API v2 kèm định danh User-Agent chuẩn.</a:t>
            </a:r>
            <a:br/>
            <a:r>
              <a:t>• Quy mô: Làm giàu top 50–100 sản phẩm phổ biến.</a:t>
            </a:r>
            <a:br/>
            <a:r>
              <a:t>• Cung cấp: ingredients_text, nhãn dinh dưỡng cho gợi ý nội dung.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1: Sơ đồ kiến trúc tổng thể 4 tầng (Multi-source → ETL → DWH → BI &amp; 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2: DỮ LIỆU &amp; TIỀN XỬ LÝ (3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3. Quy Trình Tiền Xử Lý &amp; Kiểm Định Toàn Vẹn Dữ Liệu (100% Passed)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4/15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1155161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150" b="1">
                <a:solidFill>
                  <a:srgbClr val="2563EB"/>
                </a:solidFill>
              </a:defRPr>
            </a:pPr>
            <a:r>
              <a:t>✓  1. Làm sạch &amp; Chuẩn hóa Amazon Reviews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Loại bỏ bản ghi rỗng user_id/product_id; chuẩn hóa rating ∈ [1.0–5.0]; chuyển đổi millisecond Unix timestamp → full_timestamp; khử trùng lặp theo cặp (user_id, product_id).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743200"/>
            <a:ext cx="1155161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150" b="1">
                <a:solidFill>
                  <a:srgbClr val="2563EB"/>
                </a:solidFill>
              </a:defRPr>
            </a:pPr>
            <a:r>
              <a:t>✓  2. Entity Resolution — Ghép nối nhân khẩu học DummyJSON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Tập hợp user_id duy nhất từ Amazon Reviews; ánh xạ xoay vòng (round-robin) hồ sơ nhân khẩu học (tuổi, giới tính, thành phố, quốc gia) từ DummyJSON API để tạo hồ sơ KH đầy đủ.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977639"/>
            <a:ext cx="1155161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150" b="1">
                <a:solidFill>
                  <a:srgbClr val="059669"/>
                </a:solidFill>
              </a:defRPr>
            </a:pPr>
            <a:r>
              <a:t>✓  3. Tích hợp đặc trưng SP &amp; Bóc tách Dim_Time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Hợp nhất Metadata Amazon với ingredients_text từ Open Food Facts; bóc tách full_timestamp → time_id (YYYYMMDDHH), day, month, quarter, year, day_of_week để điền Dim_Time.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212080"/>
            <a:ext cx="1155161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150" b="1">
                <a:solidFill>
                  <a:srgbClr val="059669"/>
                </a:solidFill>
              </a:defRPr>
            </a:pPr>
            <a:r>
              <a:t>✓  4. Kiểm định tự động — Data Quality Gate (src/etl/validate.py)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100% Khóa chính duy nhất, không NULL. 0 bản ghi mồ côi (Zero Orphan Records) giữa Fact_Interactions và cả 4 bảng Dim. → GATE PASSED: Hệ thống tự động nạp vào PostgreSQL DWH.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3: THIẾT KẾ &amp; CÀI ĐẶT KHO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4. Thiết Kế Lược Đồ Hình Sao (Ralph Kimball 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5/15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0D1B32"/>
                </a:solidFill>
              </a:defRPr>
            </a:pPr>
            <a:r>
              <a:t>Bảng Sự kiện — Fact_Interactions</a:t>
            </a:r>
          </a:p>
          <a:p>
            <a:pPr>
              <a:spcBef>
                <a:spcPts val="500"/>
              </a:spcBef>
              <a:defRPr sz="1050" b="1">
                <a:solidFill>
                  <a:srgbClr val="2563EB"/>
                </a:solidFill>
              </a:defRPr>
            </a:pPr>
            <a:r>
              <a:t>• Quy mô: 9,971 bản ghi tương tác thực tế.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• Granularity: Mỗi dòng = 1 tương tác (review/cart/purchase) của 1 user với 1 product tại 1 mốc giờ.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• FK: user_id → Dim_User | product_id → Dim_Product | time_id → Dim_Time.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• Measures: rating_score, helpful_vote, event_type.</a:t>
            </a:r>
          </a:p>
          <a:p>
            <a:pPr>
              <a:spcBef>
                <a:spcPts val="1200"/>
              </a:spcBef>
              <a:defRPr sz="1250" b="1">
                <a:solidFill>
                  <a:srgbClr val="0D1B32"/>
                </a:solidFill>
              </a:defRPr>
            </a:pPr>
            <a:r>
              <a:t>4 Bảng Chiều (Dimensions)</a:t>
            </a:r>
          </a:p>
          <a:p>
            <a:pPr>
              <a:spcBef>
                <a:spcPts val="500"/>
              </a:spcBef>
              <a:defRPr sz="1050" b="0">
                <a:solidFill>
                  <a:srgbClr val="2563EB"/>
                </a:solidFill>
              </a:defRPr>
            </a:pPr>
            <a:r>
              <a:t>• Dim_Time (8,955): Phân cấp Day → Month → Quarter → Year.</a:t>
            </a:r>
          </a:p>
          <a:p>
            <a:pPr>
              <a:spcBef>
                <a:spcPts val="300"/>
              </a:spcBef>
              <a:defRPr sz="1050" b="0">
                <a:solidFill>
                  <a:srgbClr val="059669"/>
                </a:solidFill>
              </a:defRPr>
            </a:pPr>
            <a:r>
              <a:t>• Dim_Category (3): All Beauty / Appliances / Electronics.</a:t>
            </a:r>
          </a:p>
          <a:p>
            <a:pPr>
              <a:spcBef>
                <a:spcPts val="300"/>
              </a:spcBef>
              <a:defRPr sz="1050" b="0">
                <a:solidFill>
                  <a:srgbClr val="D97706"/>
                </a:solidFill>
              </a:defRPr>
            </a:pPr>
            <a:r>
              <a:t>• Dim_Product (7,067): product_name, price, brand, ingredients_text (OFF).</a:t>
            </a:r>
          </a:p>
          <a:p>
            <a:pPr>
              <a:spcBef>
                <a:spcPts val="300"/>
              </a:spcBef>
              <a:defRPr sz="1050" b="0">
                <a:solidFill>
                  <a:srgbClr val="DC2626"/>
                </a:solidFill>
              </a:defRPr>
            </a:pPr>
            <a:r>
              <a:t>• Dim_User (6,585): age, gender, city, country, rfm_segment.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tar_schema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2: Sơ đồ ERD Lược đồ hình sao — Fact_Interactions kết nối 4 Dimensions với PK/FK chuẩn Kimball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3: THIẾT KẾ &amp; CÀI ĐẶT KHO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5. Tính Toán Trước Khối Đa Chiều — GROUP BY CUBE &amp; ROLLUP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6/15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2563EB"/>
                </a:solidFill>
              </a:defRPr>
            </a:pPr>
            <a:r>
              <a:t>Khối 1 — vw_cube_sales_category_time</a:t>
            </a:r>
          </a:p>
          <a:p>
            <a:pPr>
              <a:spcBef>
                <a:spcPts val="400"/>
              </a:spcBef>
              <a:defRPr sz="1000" b="1">
                <a:solidFill>
                  <a:srgbClr val="94A3B8"/>
                </a:solidFill>
              </a:defRPr>
            </a:pPr>
            <a:r>
              <a:t>Cú pháp SQL: GROUP BY CUBE(category_name, year, quarter)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Tính toán trước doanh số ở mọi tổ hợp cấp độ: (Danh mục, Năm, Quý), (Danh mục, Năm), (Danh mục), (Năm) và Grand Total (Tổng toàn sàn).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Tăng tốc: O(N) quét Fact → O(1) đọc trực tiếp từ Khối tính trước.</a:t>
            </a:r>
          </a:p>
          <a:p>
            <a:pPr>
              <a:spcBef>
                <a:spcPts val="1200"/>
              </a:spcBef>
              <a:defRPr sz="1250" b="1">
                <a:solidFill>
                  <a:srgbClr val="059669"/>
                </a:solidFill>
              </a:defRPr>
            </a:pPr>
            <a:r>
              <a:t>Khối 2 — vw_cube_customer_segment_geo</a:t>
            </a:r>
          </a:p>
          <a:p>
            <a:pPr>
              <a:spcBef>
                <a:spcPts val="400"/>
              </a:spcBef>
              <a:defRPr sz="1000" b="1">
                <a:solidFill>
                  <a:srgbClr val="94A3B8"/>
                </a:solidFill>
              </a:defRPr>
            </a:pPr>
            <a:r>
              <a:t>Cú pháp SQL: GROUP BY ROLLUP(rfm_segment, country, city)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Phân cấp địa lý: Phân khúc RFM → Quốc gia → Thành phố.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Cung cấp chỉ số ARPU (Chi tiêu TB/KH) và số KH VIP theo từng cấp địa lý.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• Phục vụ Marketing phân bổ ngân sách khuyến mại chính xác.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ap_pivo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3: Kết quả từ Khối đa chiều — Roll-up Doanh thu theo Quý &amp; Pivot Heatmap (Danh mục × Năm)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4: DỊCH VỤ OLAP &amp; TRỰC QUAN HÓA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6. Báo Cáo Hiệu Năng Doanh Nghiệp (Executive BI 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7/15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2000" b="1" i="0">
                <a:solidFill>
                  <a:srgbClr val="059669"/>
                </a:solidFill>
              </a:defRPr>
            </a:pPr>
            <a:r>
              <a:t>$199,320.29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246887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950" b="0" i="0">
                <a:solidFill>
                  <a:srgbClr val="94A3B8"/>
                </a:solidFill>
              </a:defRPr>
            </a:pPr>
            <a:r>
              <a:t>Tổng Doanh Thu DWH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087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554480"/>
            <a:ext cx="23774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2000" b="1" i="0">
                <a:solidFill>
                  <a:srgbClr val="2563EB"/>
                </a:solidFill>
              </a:defRPr>
            </a:pPr>
            <a:r>
              <a:t>9,971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011680"/>
            <a:ext cx="246887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950" b="0" i="0">
                <a:solidFill>
                  <a:srgbClr val="94A3B8"/>
                </a:solidFill>
              </a:defRPr>
            </a:pPr>
            <a:r>
              <a:t>Tổng Tương Tác / Đơn Hàng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44183" y="15087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554480"/>
            <a:ext cx="23774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2000" b="1" i="0">
                <a:solidFill>
                  <a:srgbClr val="D97706"/>
                </a:solidFill>
              </a:defRPr>
            </a:pPr>
            <a:r>
              <a:t>6,585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3" y="2011680"/>
            <a:ext cx="246887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950" b="0" i="0">
                <a:solidFill>
                  <a:srgbClr val="94A3B8"/>
                </a:solidFill>
              </a:defRPr>
            </a:pPr>
            <a:r>
              <a:t>Tổng Khách Hàng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15087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3416" y="1554480"/>
            <a:ext cx="23774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2000" b="1" i="0">
                <a:solidFill>
                  <a:srgbClr val="DC2626"/>
                </a:solidFill>
              </a:defRPr>
            </a:pPr>
            <a:r>
              <a:t>4.25 / 5.0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011680"/>
            <a:ext cx="246887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defRPr sz="950" b="0" i="0">
                <a:solidFill>
                  <a:srgbClr val="94A3B8"/>
                </a:solidFill>
              </a:defRPr>
            </a:pPr>
            <a:r>
              <a:t>Đánh Giá Trung Bình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2606040"/>
            <a:ext cx="53949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0D1B32"/>
                </a:solidFill>
              </a:defRPr>
            </a:pPr>
            <a:r>
              <a:t>Phân tích Xu hướng Doanh thu theo Tháng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View vw_sales_monthly_summary cho góc nhìn MoM Growth (%) và giá trị đơn hàng TB (AOV).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Giúp ban điều hành nắm bắt mùa vụ mua sắm cao điểm trong năm.</a:t>
            </a:r>
          </a:p>
          <a:p>
            <a:pPr>
              <a:spcBef>
                <a:spcPts val="1000"/>
              </a:spcBef>
              <a:defRPr sz="1250" b="1">
                <a:solidFill>
                  <a:srgbClr val="0D1B32"/>
                </a:solidFill>
              </a:defRPr>
            </a:pPr>
            <a:r>
              <a:t>Phễu Chuyển Đổi Tương Tác Khách Hàng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4 tầng: Tiếp cận (6,585 Users) → Xem SP (7,067 Products) → Thêm giỏ (1,394 Carts) → Đánh giá &amp; Chốt đơn (9,971 Reviews).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Tỷ lệ đánh giá và chốt đơn tích cực cao so với mặt bằng TMĐT.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606040"/>
            <a:ext cx="5897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ui_tab1_b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51760"/>
            <a:ext cx="5806440" cy="3657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0" y="630936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4: Ảnh chụp thực tế Streamlit Tab 1 — KPI Dashboard, Doanh thu theo tháng &amp; Phễu tương tác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4: DỊCH VỤ OLAP &amp; TRỰC QUAN HÓA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7. Trình Diễn Đủ 5 Thao Tác OLAP Trực Tiếp Trên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8/15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2563EB"/>
                </a:solidFill>
              </a:defRPr>
            </a:pPr>
            <a:r>
              <a:t>1. ROLL-UP</a:t>
            </a:r>
          </a:p>
          <a:p>
            <a:pPr>
              <a:spcBef>
                <a:spcPts val="300"/>
              </a:spcBef>
              <a:defRPr sz="950" b="0">
                <a:solidFill>
                  <a:srgbClr val="1E293B"/>
                </a:solidFill>
              </a:defRPr>
            </a:pPr>
            <a:r>
              <a:t>Thu gọn theo trục thời gian: Tháng → Quý → Năm hoặc từ Sản phẩm → Danh mục để xem tổng doanh số toàn sàn.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68880"/>
            <a:ext cx="53949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059669"/>
                </a:solidFill>
              </a:defRPr>
            </a:pPr>
            <a:r>
              <a:t>2. DRILL-DOWN</a:t>
            </a:r>
          </a:p>
          <a:p>
            <a:pPr>
              <a:spcBef>
                <a:spcPts val="300"/>
              </a:spcBef>
              <a:defRPr sz="950" b="0">
                <a:solidFill>
                  <a:srgbClr val="1E293B"/>
                </a:solidFill>
              </a:defRPr>
            </a:pPr>
            <a:r>
              <a:t>Đi sâu từ Danh mục (All Beauty) xuống 15 sản phẩm bán chạy nhất kèm giá bán, rating trung bình và thương hiệu.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429000"/>
            <a:ext cx="53949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D97706"/>
                </a:solidFill>
              </a:defRPr>
            </a:pPr>
            <a:r>
              <a:t>3. SLICE</a:t>
            </a:r>
          </a:p>
          <a:p>
            <a:pPr>
              <a:spcBef>
                <a:spcPts val="300"/>
              </a:spcBef>
              <a:defRPr sz="950" b="0">
                <a:solidFill>
                  <a:srgbClr val="1E293B"/>
                </a:solidFill>
              </a:defRPr>
            </a:pPr>
            <a:r>
              <a:t>Cố định 1 chiều: Cắt lát theo Mức Đánh Giá = 5.0 Sao hoặc cố định Quý 3 để phân tích đơn hàng chất lượng hoàn hảo.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389120"/>
            <a:ext cx="53949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DC2626"/>
                </a:solidFill>
              </a:defRPr>
            </a:pPr>
            <a:r>
              <a:t>4. DICE</a:t>
            </a:r>
          </a:p>
          <a:p>
            <a:pPr>
              <a:spcBef>
                <a:spcPts val="300"/>
              </a:spcBef>
              <a:defRPr sz="950" b="0">
                <a:solidFill>
                  <a:srgbClr val="1E293B"/>
                </a:solidFill>
              </a:defRPr>
            </a:pPr>
            <a:r>
              <a:t>Lọc đồng thời 2 chiều: Chiều Thời gian (Năm 2022–2023) VÀ Chiều Sản phẩm (Khoảng giá $10 đến $60).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349240"/>
            <a:ext cx="53949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7C3AED"/>
                </a:solidFill>
              </a:defRPr>
            </a:pPr>
            <a:r>
              <a:t>5. PIVOT</a:t>
            </a:r>
          </a:p>
          <a:p>
            <a:pPr>
              <a:spcBef>
                <a:spcPts val="300"/>
              </a:spcBef>
              <a:defRPr sz="950" b="0">
                <a:solidFill>
                  <a:srgbClr val="1E293B"/>
                </a:solidFill>
              </a:defRPr>
            </a:pPr>
            <a:r>
              <a:t>Xoay trục: Danh mục thành Hàng, Năm thành Cột → Ma trận chéo Cross-table kèm Heatmap doanh thu trực quan.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ui_tab2_olap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5: Ảnh chụp thực tế Streamlit Tab 2 — Radio chọn thao tác OLAP &amp; bảng biểu đồ tương tác trực tiếp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5: CHỨC NĂNG KHAI PHÁ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8. Khai Phá Dữ Liệu: Phân Cụm Khách Hàng RFM (K-Means)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9/15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2563EB"/>
                </a:solidFill>
              </a:defRPr>
            </a:pPr>
            <a:r>
              <a:t>Vector đặc trưng RFM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R (Recency): Số ngày kể từ lần tương tác gần nhất.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F (Frequency): Tổng số lần mua / đánh giá sản phẩm.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M (Monetary): Tổng chi tiêu tích lũy (tính từ giá SP).</a:t>
            </a:r>
          </a:p>
          <a:p>
            <a:pPr>
              <a:spcBef>
                <a:spcPts val="1200"/>
              </a:spcBef>
              <a:defRPr sz="1250" b="1">
                <a:solidFill>
                  <a:srgbClr val="059669"/>
                </a:solidFill>
              </a:defRPr>
            </a:pPr>
            <a:r>
              <a:t>Chuẩn hóa &amp; Lựa chọn K tối ưu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StandardScaler đưa R, F, M về phân phối chuẩn N(0, 1).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Đo Elbow (WCSS) + Silhouette Score cho K = 2 → 7.</a:t>
            </a:r>
          </a:p>
          <a:p>
            <a:pPr>
              <a:spcBef>
                <a:spcPts val="400"/>
              </a:spcBef>
              <a:defRPr sz="1100" b="1">
                <a:solidFill>
                  <a:srgbClr val="DC2626"/>
                </a:solidFill>
              </a:defRPr>
            </a:pPr>
            <a:r>
              <a:t>• Đạt Silhouette = 0.6393 tại K = 4 ← Tối ưu!</a:t>
            </a:r>
          </a:p>
          <a:p>
            <a:pPr>
              <a:spcBef>
                <a:spcPts val="1200"/>
              </a:spcBef>
              <a:defRPr sz="1250" b="1">
                <a:solidFill>
                  <a:srgbClr val="0D1B32"/>
                </a:solidFill>
              </a:defRPr>
            </a:pPr>
            <a:r>
              <a:t>Đóng gói kết quả vào DWH (Closed-loop)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Nhãn phân cụm tự động cập nhật vào cột rfm_segment của Dim_User trong PostgreSQL để phục vụ phân tích OLAP tức thì.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fm_clusters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6: Tỷ trọng Doanh thu 4 cụm RFM (Donut) &amp; Đường cong Silhouette Score — Đỉnh K=4 = 0.6393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5: CHỨC NĂNG KHAI PHÁ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9. Chân Dung 4 Phân Khúc Khách Hàng &amp; Chiến Lược Hành Động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10/15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D97706"/>
                </a:solidFill>
              </a:defRPr>
            </a:pPr>
            <a:r>
              <a:t>Champions (VIP) — ARPU $286.65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Đóng góp 30.2% tổng doanh thu. Tần suất mua cao nhất.</a:t>
            </a:r>
          </a:p>
          <a:p>
            <a:pPr>
              <a:spcBef>
                <a:spcPts val="200"/>
              </a:spcBef>
              <a:defRPr sz="1000" b="1">
                <a:solidFill>
                  <a:srgbClr val="D97706"/>
                </a:solidFill>
              </a:defRPr>
            </a:pPr>
            <a:r>
              <a:t>→ Chăm sóc đặc quyền VIP, quyền mua sớm, quà tri ân.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Potential Loyalists — Tiềm năng mới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Mới tương tác gần đây, giá trị đơn triển vọng.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</a:defRPr>
            </a:pPr>
            <a:r>
              <a:t>→ Gửi voucher đơn thứ 2, email gợi ý SP cá nhân hóa.</a:t>
            </a:r>
          </a:p>
          <a:p>
            <a:pPr>
              <a:spcBef>
                <a:spcPts val="1200"/>
              </a:spcBef>
              <a:defRPr sz="1200" b="1">
                <a:solidFill>
                  <a:srgbClr val="059669"/>
                </a:solidFill>
              </a:defRPr>
            </a:pPr>
            <a:r>
              <a:t>Loyal Customers — Trung thành đều đặn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Mua sắm định kỳ, gắn kết cao với thương hiệu.</a:t>
            </a:r>
          </a:p>
          <a:p>
            <a:pPr>
              <a:spcBef>
                <a:spcPts val="200"/>
              </a:spcBef>
              <a:defRPr sz="1000" b="1">
                <a:solidFill>
                  <a:srgbClr val="059669"/>
                </a:solidFill>
              </a:defRPr>
            </a:pPr>
            <a:r>
              <a:t>→ Tích điểm loyalty, gợi ý ngành hàng mới qua Cross-sell.</a:t>
            </a:r>
          </a:p>
          <a:p>
            <a:pPr>
              <a:spcBef>
                <a:spcPts val="1200"/>
              </a:spcBef>
              <a:defRPr sz="1200" b="1">
                <a:solidFill>
                  <a:srgbClr val="DC2626"/>
                </a:solidFill>
              </a:defRPr>
            </a:pPr>
            <a:r>
              <a:t>At Risk / Inactive — Nguy cơ rời bỏ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Đã lâu không quay lại (Recency lớn), 47% tổng số KH.</a:t>
            </a:r>
          </a:p>
          <a:p>
            <a:pPr>
              <a:spcBef>
                <a:spcPts val="200"/>
              </a:spcBef>
              <a:defRPr sz="1000" b="1">
                <a:solidFill>
                  <a:srgbClr val="DC2626"/>
                </a:solidFill>
              </a:defRPr>
            </a:pPr>
            <a:r>
              <a:t>→ Chiến dịch Re-engagement, giảm giá sâu tái kích hoạt.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_tab3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7: Ảnh chụp thực tế Tab 3 Streamlit — Donut Doanh thu, Bar ARPU và bảng số liệu 4 phân khúc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5: CHỨC NĂNG KHAI PHÁ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10. Khai Phá Luật Kết Hợp Giỏ Hàng — FP-Growth (7,674 Luật)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11/15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0D1B32"/>
                </a:solidFill>
              </a:defRPr>
            </a:pPr>
            <a:r>
              <a:t>Dữ liệu giỏ hàng (Market Basket Data)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DummyJSON Carts: 194 mặt hàng trong 50 giỏ hàng thực tế + nhóm SP được cùng user đánh giá trên sàn Amazon.</a:t>
            </a:r>
          </a:p>
          <a:p>
            <a:pPr>
              <a:spcBef>
                <a:spcPts val="1200"/>
              </a:spcBef>
              <a:defRPr sz="1250" b="1">
                <a:solidFill>
                  <a:srgbClr val="059669"/>
                </a:solidFill>
              </a:defRPr>
            </a:pPr>
            <a:r>
              <a:t>Thuật toán FP-Growth (Frequent Pattern Growth)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Nén dữ liệu thành cây FP-Tree; khai phá nhanh vượt trội so với Apriori truyền thống (không phải quét lại CSDL nhiều lần).</a:t>
            </a:r>
          </a:p>
          <a:p>
            <a:pPr>
              <a:spcBef>
                <a:spcPts val="1200"/>
              </a:spcBef>
              <a:defRPr sz="1250" b="1">
                <a:solidFill>
                  <a:srgbClr val="D97706"/>
                </a:solidFill>
              </a:defRPr>
            </a:pPr>
            <a:r>
              <a:t>Kết quả khai phá — Kiểm tra bắt buộc Lift (Slide 25)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Ngưỡng lọc: min_support = 0.005, min_confidence = 0.1, min_lift ≥ 1.1.</a:t>
            </a:r>
          </a:p>
          <a:p>
            <a:pPr>
              <a:spcBef>
                <a:spcPts val="300"/>
              </a:spcBef>
              <a:defRPr sz="1100" b="1">
                <a:solidFill>
                  <a:srgbClr val="059669"/>
                </a:solidFill>
              </a:defRPr>
            </a:pPr>
            <a:r>
              <a:t>• Trích xuất thành công: 7,674 Luật kết hợp!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Lift tối đa đạt 60.0x (Xác suất mua kèm cao gấp 60 lần so với ngẫu nhiên).</a:t>
            </a:r>
          </a:p>
          <a:p>
            <a:pPr>
              <a:spcBef>
                <a:spcPts val="1200"/>
              </a:spcBef>
              <a:defRPr sz="1250" b="1">
                <a:solidFill>
                  <a:srgbClr val="2563EB"/>
                </a:solidFill>
              </a:defRPr>
            </a:pPr>
            <a:r>
              <a:t>Ứng dụng tạo Combo Bundle (Cross-Sell -10%)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Luật [Cat Food, Cricket Ball] ⟹ [Tropical Earring]: Lift = 60.0x → Chiết khấu Combo -10% tự động.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_tab4_cross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8: Ảnh chụp thực tế Tab 4 Streamlit — 7,674 luật kết hợp, lọc theo Min Lift, Lift tới 60.0x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5: CHỨC NĂNG KHAI PHÁ DỮ LIỆU (4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11. Đánh Giá Offline Hệ Thống Gợi Ý &amp; So Sánh Mô Hình Cơ Sở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12/15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0D1B32"/>
                </a:solidFill>
              </a:defRPr>
            </a:pPr>
            <a:r>
              <a:t>Temporal Split — Tránh rò rỉ dữ liệu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Dữ liệu quá khứ dùng huấn luyện; 20% giao dịch gần nhất kiểm thử trên 874 người dùng.</a:t>
            </a:r>
          </a:p>
          <a:p>
            <a:pPr>
              <a:spcBef>
                <a:spcPts val="1200"/>
              </a:spcBef>
              <a:defRPr sz="1250" b="1">
                <a:solidFill>
                  <a:srgbClr val="2563EB"/>
                </a:solidFill>
              </a:defRPr>
            </a:pPr>
            <a:r>
              <a:t>So sánh 3 mô hình tại K = 10 (Slide 25)</a:t>
            </a:r>
          </a:p>
          <a:p>
            <a:pPr>
              <a:spcBef>
                <a:spcPts val="500"/>
              </a:spcBef>
              <a:defRPr sz="1050" b="1">
                <a:solidFill>
                  <a:srgbClr val="2563EB"/>
                </a:solidFill>
              </a:defRPr>
            </a:pPr>
            <a:r>
              <a:t>• Popularity Baseline (best overall):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  Recall@10 = 0.0160 | NDCG@10 = 0.0074 | HitRate = 1.60% | MAP = 0.0049</a:t>
            </a:r>
          </a:p>
          <a:p>
            <a:pPr>
              <a:spcBef>
                <a:spcPts val="500"/>
              </a:spcBef>
              <a:defRPr sz="1050" b="1">
                <a:solidFill>
                  <a:srgbClr val="059669"/>
                </a:solidFill>
              </a:defRPr>
            </a:pPr>
            <a:r>
              <a:t>• Content-Based (TF-IDF + Open Food Facts):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  Recall@10 = 0.0023 | NDCG@10 = 0.0015 | HitRate = 0.34% | MAP = 0.0013</a:t>
            </a:r>
          </a:p>
          <a:p>
            <a:pPr>
              <a:spcBef>
                <a:spcPts val="500"/>
              </a:spcBef>
              <a:defRPr sz="1050" b="1">
                <a:solidFill>
                  <a:srgbClr val="D97706"/>
                </a:solidFill>
              </a:defRPr>
            </a:pPr>
            <a:r>
              <a:t>• CF — TruncatedSVD (Collaborative Filtering):</a:t>
            </a:r>
          </a:p>
          <a:p>
            <a:pPr>
              <a:spcBef>
                <a:spcPts val="200"/>
              </a:spcBef>
              <a:defRPr sz="1000" b="0">
                <a:solidFill>
                  <a:srgbClr val="1E293B"/>
                </a:solidFill>
              </a:defRPr>
            </a:pPr>
            <a:r>
              <a:t>  Recall@10 = 0.0034 | NDCG@10 = 0.0015 | HitRate = 0.34% | MAP = 0.0009</a:t>
            </a:r>
          </a:p>
          <a:p>
            <a:pPr>
              <a:spcBef>
                <a:spcPts val="1000"/>
              </a:spcBef>
              <a:defRPr sz="1250" b="1">
                <a:solidFill>
                  <a:srgbClr val="0D1B32"/>
                </a:solidFill>
              </a:defRPr>
            </a:pPr>
            <a:r>
              <a:t>Nhận định về Sparsity 99.98%</a:t>
            </a:r>
          </a:p>
          <a:p>
            <a:pPr>
              <a:spcBef>
                <a:spcPts val="500"/>
              </a:spcBef>
              <a:defRPr sz="1000" b="0">
                <a:solidFill>
                  <a:srgbClr val="1E293B"/>
                </a:solidFill>
              </a:defRPr>
            </a:pPr>
            <a:r>
              <a:t>• Dữ liệu TMĐT thực tế cực thưa (TB 1.30 tương tác/user). SVD gặp Cold-Start nặng; Content-Based có lợi thế khi tích hợp đặc trưng từ Open Food Facts.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csys_benchmark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91640"/>
            <a:ext cx="5806440" cy="425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9: So sánh Offline — Popularity Baseline vs Content-Based vs CF-SVD tại K=10 (Recall, NDCG, HitRate, MAP)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6: KHUYẾN NGHỊ &amp; HÀNH ĐỘNG (2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12. Ứng Dụng Thực Tế: Gói Ưu Đãi Mua Kèm &amp; Gợi Ý Cá Nhân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13/15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250" b="1">
                <a:solidFill>
                  <a:srgbClr val="2563EB"/>
                </a:solidFill>
              </a:defRPr>
            </a:pPr>
            <a:r>
              <a:t>Tích hợp Luật Kết Hợp → Gợi ý Mua kèm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Khi KH thêm SP vào giỏ, hệ thống tra cứu tức thì các luật Lift cao nhất để gợi ý SP mua kèm phù hợp nhất.</a:t>
            </a:r>
          </a:p>
          <a:p>
            <a:pPr>
              <a:spcBef>
                <a:spcPts val="1200"/>
              </a:spcBef>
              <a:defRPr sz="1250" b="1">
                <a:solidFill>
                  <a:srgbClr val="059669"/>
                </a:solidFill>
              </a:defRPr>
            </a:pPr>
            <a:r>
              <a:t>Gói Combo Bundle — Chiết khấu 10%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Tự động gom Combo các SP liên quan và hiển thị mức giá chiết khấu -10% để kích thích hoàn tất đơn hàng giá trị cao (Tăng AOV).</a:t>
            </a:r>
          </a:p>
          <a:p>
            <a:pPr>
              <a:spcBef>
                <a:spcPts val="1200"/>
              </a:spcBef>
              <a:defRPr sz="1250" b="1">
                <a:solidFill>
                  <a:srgbClr val="D97706"/>
                </a:solidFill>
              </a:defRPr>
            </a:pPr>
            <a:r>
              <a:t>Gợi ý cá nhân hóa theo Phân khúc RFM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Champions (VIP): Ưu tiên gợi ý SP cao cấp, giá cao.</a:t>
            </a:r>
          </a:p>
          <a:p>
            <a:pPr>
              <a:spcBef>
                <a:spcPts val="300"/>
              </a:spcBef>
              <a:defRPr sz="1050" b="0">
                <a:solidFill>
                  <a:srgbClr val="1E293B"/>
                </a:solidFill>
              </a:defRPr>
            </a:pPr>
            <a:r>
              <a:t>• Potential Loyalists: Gợi ý các mặt hàng phổ biến đang trending.</a:t>
            </a:r>
          </a:p>
          <a:p>
            <a:pPr>
              <a:spcBef>
                <a:spcPts val="1200"/>
              </a:spcBef>
              <a:defRPr sz="1250" b="1">
                <a:solidFill>
                  <a:srgbClr val="0D1B32"/>
                </a:solidFill>
              </a:defRPr>
            </a:pPr>
            <a:r>
              <a:t>Trải nghiệm trực quan trên Web Dashboard</a:t>
            </a:r>
          </a:p>
          <a:p>
            <a:pPr>
              <a:spcBef>
                <a:spcPts val="500"/>
              </a:spcBef>
              <a:defRPr sz="1050" b="0">
                <a:solidFill>
                  <a:srgbClr val="1E293B"/>
                </a:solidFill>
              </a:defRPr>
            </a:pPr>
            <a:r>
              <a:t>• Giao diện Streamlit cho phép chọn thử bất kỳ SP nào → xem gợi ý Combo tính toán thời gian thực.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_tab4_bundle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06440" cy="4892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6446520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 sz="850" b="0" i="1">
                <a:solidFill>
                  <a:srgbClr val="94A3B8"/>
                </a:solidFill>
              </a:defRPr>
            </a:pPr>
            <a:r>
              <a:t>Hình 10: Ảnh chụp thực tế — Giao diện thẻ Gói Sản phẩm Mua kèm Combo (Bundle Recommendation) trên Streamlit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6: KHUYẾN NGHỊ &amp; HÀNH ĐỘNG (2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13. Tự Động Hóa Vận Hành Bằng Một Lệnh &amp; Hạn Chế Của Đề Tài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14/15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059669"/>
                </a:solidFill>
              </a:defRPr>
            </a:pPr>
            <a:r>
              <a:t>✓  Tái lập 100% bằng 1 lệnh duy nhất (Slide 12)</a:t>
            </a:r>
          </a:p>
          <a:p>
            <a:pPr>
              <a:spcBef>
                <a:spcPts val="600"/>
              </a:spcBef>
              <a:defRPr sz="1400" b="1">
                <a:solidFill>
                  <a:srgbClr val="0D1B32"/>
                </a:solidFill>
              </a:defRPr>
            </a:pPr>
            <a:r>
              <a:t>    python run_all.py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Toàn bộ 6 giai đoạn chạy tự động khép kín: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  1.  Khởi tạo cấu trúc Star Schema trong PostgreSQL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  2.  Trích xuất đa nguồn (Amazon + DummyJSON + Open Food Facts)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  3.  Tiền xử lý, khử trùng lặp &amp; Kiểm định Quality Gate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  4.  Tính toán trước 2 Khối đa chiều (CUBE &amp; ROLLUP)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  5.  Huấn luyện K-Means RFM &amp; Khai phá FP-Growth MBA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t>  6.  Tự động khởi chạy Web BI Dashboard trên cổng 8501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t>→ Giúp Hội đồng kiểm chứng kết quả minh bạch tuyệt đối!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08760"/>
            <a:ext cx="5897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0D1B32"/>
                </a:solidFill>
              </a:defRPr>
            </a:pPr>
            <a:r>
              <a:t>⚠️  Các Hạn Chế Trung Thực Của Đề Tài (Slide 24)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Hạn chế 1 — Giới hạn Rate Limiting REST API: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Gọi qua API công cộng miễn phí (DummyJSON, Open Food Facts) có giới hạn tần suất. Nhóm giới hạn quy mô ~10,000 bản ghi để đảm bảo tốc độ demo.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Hạn chế 2 — Độ thưa dữ liệu tương tác cao (Sparsity = 99.98%):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Phần lớn KH Amazon chỉ có 1 tương tác → gây Cold-Start nặng cho mô hình SVD. Content-Based bù lại nhờ đặc trưng sản phẩm.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Hạn chế 3 — Môi trường tính toán cục bộ: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• DWH hiện chạy trên PostgreSQL Docker container cá nhân, chưa triển khai trên Cloud (AWS Redshift / Snowflake / Google BigQuery).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91FF"/>
                </a:solidFill>
              </a:defRPr>
            </a:pPr>
            <a:r>
              <a:t>PHẦN 6: KHUYẾN NGHỊ &amp; HÀNH ĐỘNG (2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14. Hướng Phát Triển Mở Rộng &amp; Tổng Kết Đồ 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12772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INT1422 · Kho Dữ Liệu &amp; Khai Phá Dữ Liệu  |  Nhóm đề tài Thương mại điện tử đa nguồn  |  Slide 15/15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2563EB"/>
                </a:solidFill>
              </a:defRPr>
            </a:pPr>
            <a:r>
              <a:t>Hướng Phát Triển Tiếp Theo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🔄  Streaming Ingestion thời gian thực: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Tích hợp Apache Kafka + Apache Flink để bắt sự kiện tương tác Clickstream và cập nhật DWH theo thời gian thực (Near-realtime ETL).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🤖  Mô hình Deep Learning Recommender: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Thử nghiệm kiến trúc Two-Tower DNN hoặc Graph Neural Networks (GNN) để nắm bắt mối quan hệ phi tuyến tính giữa user-item phức tạp.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⚙️  MLOps &amp; CI/CD Pipeline tự động: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Sử dụng Apache Airflow để lập lịch huấn luyện lại mô hình định kỳ hàng tuần và tự động hóa triển khai (CD).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08760"/>
            <a:ext cx="5897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91440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0D1B32"/>
                </a:solidFill>
              </a:defRPr>
            </a:pPr>
            <a:r>
              <a:t>✓  Tổng Kết — Đối Chiếu Chuẩn Đầu Ra CLO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CLO1 (45%) — Kho Dữ Liệu &amp; OLAP: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Hoàn thành Star Schema (1 Fact + 4 Dim); tính trước 2 Khối (CUBE &amp; ROLLUP); trình diễn đủ 5 thao tác OLAP trực tiếp trên giao diện Web.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CLO2 (45%) — Khai Phá Dữ Liệu &amp; Đánh Giá: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K-Means RFM đạt Silhouette = 0.6393 (K=4); FP-Growth: 7,674 luật (Lift 60x); Đánh giá Offline đa mô hình so với Baseline chuẩn.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CLO3 (10%) — Kỹ Năng Dự Án &amp; Tự Động Hóa:</a:t>
            </a:r>
          </a:p>
          <a:p>
            <a:pPr>
              <a:spcBef>
                <a:spcPts val="400"/>
              </a:spcBef>
              <a:defRPr sz="1000" b="0">
                <a:solidFill>
                  <a:srgbClr val="1E293B"/>
                </a:solidFill>
              </a:defRPr>
            </a:pPr>
            <a:r>
              <a:t>1 lệnh duy nhất: python run_all.py; Quản trị Git minh bạch; Báo cáo slide 15 trang chuẩn mực.</a:t>
            </a:r>
          </a:p>
          <a:p>
            <a:pPr>
              <a:spcBef>
                <a:spcPts val="500"/>
              </a:spcBef>
              <a:defRPr sz="8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D1B32"/>
                </a:solidFill>
              </a:defRPr>
            </a:pPr>
            <a:r>
              <a:t>NHÓM XIN TRÂN TRỌNG CẢM ƠN THẦY CÔ &amp; HỘI ĐỒNG!</a:t>
            </a:r>
          </a:p>
          <a:p>
            <a:pPr>
              <a:spcBef>
                <a:spcPts val="300"/>
              </a:spcBef>
              <a:defRPr sz="1150" b="0">
                <a:solidFill>
                  <a:srgbClr val="94A3B8"/>
                </a:solidFill>
              </a:defRPr>
            </a:pPr>
            <a:r>
              <a:t>Sẵn sàng cho phần Hỏi &amp; Đáp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3761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 Trần</cp:lastModifiedBy>
  <cp:revision>2</cp:revision>
  <dcterms:created xsi:type="dcterms:W3CDTF">2013-01-27T09:14:16Z</dcterms:created>
  <dcterms:modified xsi:type="dcterms:W3CDTF">2026-10-26T11:02:47Z</dcterms:modified>
  <cp:category/>
</cp:coreProperties>
</file>